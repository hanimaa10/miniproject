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10/8/2025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Algerian" panose="04020705040A02060702" pitchFamily="82" charset="0"/>
              </a:rPr>
              <a:t>the Impact of Lifestyle on Heart Disease Risk</a:t>
            </a:r>
            <a:endParaRPr lang="en-IN" dirty="0">
              <a:latin typeface="Algerian" panose="04020705040A02060702" pitchFamily="82" charset="0"/>
            </a:endParaRPr>
          </a:p>
        </p:txBody>
      </p:sp>
      <p:sp>
        <p:nvSpPr>
          <p:cNvPr id="3" name="Subtitle 2"/>
          <p:cNvSpPr>
            <a:spLocks noGrp="1"/>
          </p:cNvSpPr>
          <p:nvPr>
            <p:ph type="subTitle" idx="1"/>
          </p:nvPr>
        </p:nvSpPr>
        <p:spPr/>
        <p:txBody>
          <a:bodyPr>
            <a:normAutofit/>
          </a:bodyPr>
          <a:lstStyle/>
          <a:p>
            <a:pPr algn="r"/>
            <a:r>
              <a:rPr lang="en-IN" sz="2800" b="1" dirty="0" smtClean="0">
                <a:solidFill>
                  <a:schemeClr val="accent5">
                    <a:lumMod val="50000"/>
                  </a:schemeClr>
                </a:solidFill>
              </a:rPr>
              <a:t>By</a:t>
            </a:r>
          </a:p>
          <a:p>
            <a:pPr algn="r"/>
            <a:r>
              <a:rPr lang="en-IN" sz="2800" b="1" dirty="0" smtClean="0">
                <a:solidFill>
                  <a:schemeClr val="accent5">
                    <a:lumMod val="50000"/>
                  </a:schemeClr>
                </a:solidFill>
              </a:rPr>
              <a:t>Hanima kv</a:t>
            </a:r>
            <a:endParaRPr lang="en-IN" sz="2800" b="1" dirty="0">
              <a:solidFill>
                <a:schemeClr val="accent5">
                  <a:lumMod val="50000"/>
                </a:schemeClr>
              </a:solidFill>
            </a:endParaRPr>
          </a:p>
        </p:txBody>
      </p:sp>
    </p:spTree>
    <p:extLst>
      <p:ext uri="{BB962C8B-B14F-4D97-AF65-F5344CB8AC3E}">
        <p14:creationId xmlns:p14="http://schemas.microsoft.com/office/powerpoint/2010/main" val="8923519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lgerian" panose="04020705040A02060702" pitchFamily="82" charset="0"/>
              </a:rPr>
              <a:t>introduction</a:t>
            </a:r>
            <a:endParaRPr lang="en-IN" dirty="0">
              <a:latin typeface="Algerian" panose="04020705040A02060702" pitchFamily="82" charset="0"/>
            </a:endParaRPr>
          </a:p>
        </p:txBody>
      </p:sp>
      <p:sp>
        <p:nvSpPr>
          <p:cNvPr id="3" name="Content Placeholder 2"/>
          <p:cNvSpPr>
            <a:spLocks noGrp="1"/>
          </p:cNvSpPr>
          <p:nvPr>
            <p:ph sz="quarter" idx="13"/>
          </p:nvPr>
        </p:nvSpPr>
        <p:spPr/>
        <p:txBody>
          <a:bodyPr/>
          <a:lstStyle/>
          <a:p>
            <a:r>
              <a:rPr lang="en-US" dirty="0">
                <a:latin typeface="Bell MT" panose="02020503060305020303" pitchFamily="18" charset="0"/>
              </a:rPr>
              <a:t>Heart disease is one of the leading causes of mortality globally. Lifestyle choices such as smoking, alcohol consumption, physical inactivity, unhealthy diet, and obesity play a significant role in increasing the risk of heart disease. With the rise of data-driven healthcare, analyzing patient datasets can provide valuable insights into how lifestyle factors contribute to heart disease. By understanding these relationships, preventive measures and informed lifestyle changes can be recommended to reduce heart disease risk</a:t>
            </a:r>
            <a:r>
              <a:rPr lang="en-US" dirty="0"/>
              <a:t>.</a:t>
            </a:r>
          </a:p>
        </p:txBody>
      </p:sp>
    </p:spTree>
    <p:extLst>
      <p:ext uri="{BB962C8B-B14F-4D97-AF65-F5344CB8AC3E}">
        <p14:creationId xmlns:p14="http://schemas.microsoft.com/office/powerpoint/2010/main" val="32670158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lgerian" panose="04020705040A02060702" pitchFamily="82" charset="0"/>
              </a:rPr>
              <a:t>abstract</a:t>
            </a:r>
            <a:endParaRPr lang="en-IN" dirty="0">
              <a:latin typeface="Algerian" panose="04020705040A02060702" pitchFamily="82" charset="0"/>
            </a:endParaRPr>
          </a:p>
        </p:txBody>
      </p:sp>
      <p:sp>
        <p:nvSpPr>
          <p:cNvPr id="3" name="Content Placeholder 2"/>
          <p:cNvSpPr>
            <a:spLocks noGrp="1"/>
          </p:cNvSpPr>
          <p:nvPr>
            <p:ph sz="quarter" idx="13"/>
          </p:nvPr>
        </p:nvSpPr>
        <p:spPr/>
        <p:txBody>
          <a:bodyPr>
            <a:normAutofit fontScale="92500" lnSpcReduction="10000"/>
          </a:bodyPr>
          <a:lstStyle/>
          <a:p>
            <a:r>
              <a:rPr lang="en-US" dirty="0">
                <a:latin typeface="Bell MT" panose="02020503060305020303" pitchFamily="18" charset="0"/>
              </a:rPr>
              <a:t>This project focuses on analyzing the relationship between lifestyle factors and the occurrence of heart disease using a cleaned and integrated patient dataset. The dataset is transformed using techniques like one-hot encoding, normalization, and feature engineering to prepare it for analysis. Through data visualization and statistical exploration, the project identifies lifestyle behaviors that are strongly associated with heart disease. The findings aim to provide actionable insights for healthcare professionals and individuals, supporting preventive healthcare strategies and promoting healthier lifestyles.</a:t>
            </a:r>
            <a:endParaRPr lang="en-IN" dirty="0">
              <a:latin typeface="Bell MT" panose="02020503060305020303" pitchFamily="18" charset="0"/>
            </a:endParaRPr>
          </a:p>
        </p:txBody>
      </p:sp>
    </p:spTree>
    <p:extLst>
      <p:ext uri="{BB962C8B-B14F-4D97-AF65-F5344CB8AC3E}">
        <p14:creationId xmlns:p14="http://schemas.microsoft.com/office/powerpoint/2010/main" val="37543871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lgerian" panose="04020705040A02060702" pitchFamily="82" charset="0"/>
              </a:rPr>
              <a:t>Problem statement</a:t>
            </a:r>
            <a:endParaRPr lang="en-IN" dirty="0">
              <a:latin typeface="Algerian" panose="04020705040A02060702" pitchFamily="82" charset="0"/>
            </a:endParaRPr>
          </a:p>
        </p:txBody>
      </p:sp>
      <p:sp>
        <p:nvSpPr>
          <p:cNvPr id="3" name="Content Placeholder 2"/>
          <p:cNvSpPr>
            <a:spLocks noGrp="1"/>
          </p:cNvSpPr>
          <p:nvPr>
            <p:ph sz="quarter" idx="13"/>
          </p:nvPr>
        </p:nvSpPr>
        <p:spPr/>
        <p:txBody>
          <a:bodyPr/>
          <a:lstStyle/>
          <a:p>
            <a:r>
              <a:rPr lang="en-US" dirty="0"/>
              <a:t>Heart disease is heavily influenced by lifestyle factors, but understanding the precise impact of these behaviors requires analysis of real-world data. Many individuals are unaware of how habits like smoking, alcohol consumption, poor diet, or physical inactivity contribute to their risk. There is a need for a systematic data-driven approach to identify the key lifestyle factors associated with heart disease and quantify their influence.</a:t>
            </a:r>
            <a:endParaRPr lang="en-IN" dirty="0">
              <a:latin typeface="Bell MT" panose="02020503060305020303" pitchFamily="18" charset="0"/>
            </a:endParaRPr>
          </a:p>
        </p:txBody>
      </p:sp>
    </p:spTree>
    <p:extLst>
      <p:ext uri="{BB962C8B-B14F-4D97-AF65-F5344CB8AC3E}">
        <p14:creationId xmlns:p14="http://schemas.microsoft.com/office/powerpoint/2010/main" val="33820658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525585" y="1090383"/>
            <a:ext cx="10363826" cy="3424107"/>
          </a:xfrm>
        </p:spPr>
        <p:txBody>
          <a:bodyPr/>
          <a:lstStyle/>
          <a:p>
            <a:r>
              <a:rPr lang="en-IN" b="1" u="sng" dirty="0" smtClean="0"/>
              <a:t>Dataset from </a:t>
            </a:r>
            <a:r>
              <a:rPr lang="en-IN" b="1" u="sng" dirty="0" err="1" smtClean="0"/>
              <a:t>kaggle</a:t>
            </a:r>
            <a:endParaRPr lang="en-IN" b="1" u="sng" dirty="0"/>
          </a:p>
          <a:p>
            <a:pPr>
              <a:buFont typeface="Wingdings" panose="05000000000000000000" pitchFamily="2" charset="2"/>
              <a:buChar char="v"/>
            </a:pPr>
            <a:r>
              <a:rPr lang="en-IN" dirty="0"/>
              <a:t>Heart Disease </a:t>
            </a:r>
            <a:r>
              <a:rPr lang="en-IN" dirty="0" smtClean="0"/>
              <a:t>Dataset </a:t>
            </a:r>
          </a:p>
          <a:p>
            <a:pPr>
              <a:buFont typeface="Wingdings" panose="05000000000000000000" pitchFamily="2" charset="2"/>
              <a:buChar char="v"/>
            </a:pPr>
            <a:r>
              <a:rPr lang="en-US" dirty="0"/>
              <a:t>Heart Disease Health Indicators </a:t>
            </a:r>
            <a:r>
              <a:rPr lang="en-US" dirty="0" smtClean="0"/>
              <a:t>Dataset</a:t>
            </a:r>
          </a:p>
          <a:p>
            <a:r>
              <a:rPr lang="en-US" b="1" u="sng" dirty="0" smtClean="0"/>
              <a:t>Tools</a:t>
            </a:r>
          </a:p>
          <a:p>
            <a:pPr>
              <a:buFont typeface="Wingdings" panose="05000000000000000000" pitchFamily="2" charset="2"/>
              <a:buChar char="v"/>
            </a:pPr>
            <a:r>
              <a:rPr lang="en-US" dirty="0" smtClean="0"/>
              <a:t>Pandas , numpy</a:t>
            </a:r>
          </a:p>
          <a:p>
            <a:pPr>
              <a:buFont typeface="Wingdings" panose="05000000000000000000" pitchFamily="2" charset="2"/>
              <a:buChar char="v"/>
            </a:pPr>
            <a:r>
              <a:rPr lang="en-US" dirty="0" smtClean="0"/>
              <a:t>python</a:t>
            </a:r>
          </a:p>
          <a:p>
            <a:pPr>
              <a:buFont typeface="Wingdings" panose="05000000000000000000" pitchFamily="2" charset="2"/>
              <a:buChar char="v"/>
            </a:pPr>
            <a:r>
              <a:rPr lang="en-US" dirty="0" smtClean="0"/>
              <a:t>Matplotlib , seaborn</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24206006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lgerian" panose="04020705040A02060702" pitchFamily="82" charset="0"/>
              </a:rPr>
              <a:t>implementation</a:t>
            </a:r>
            <a:endParaRPr lang="en-IN" dirty="0">
              <a:latin typeface="Algerian" panose="04020705040A02060702" pitchFamily="82" charset="0"/>
            </a:endParaRPr>
          </a:p>
        </p:txBody>
      </p:sp>
      <p:sp>
        <p:nvSpPr>
          <p:cNvPr id="3" name="Content Placeholder 2"/>
          <p:cNvSpPr>
            <a:spLocks noGrp="1"/>
          </p:cNvSpPr>
          <p:nvPr>
            <p:ph sz="quarter" idx="13"/>
          </p:nvPr>
        </p:nvSpPr>
        <p:spPr/>
        <p:txBody>
          <a:bodyPr>
            <a:normAutofit fontScale="77500" lnSpcReduction="20000"/>
          </a:bodyPr>
          <a:lstStyle/>
          <a:p>
            <a:pPr marL="0" indent="0">
              <a:buNone/>
            </a:pPr>
            <a:r>
              <a:rPr lang="en-US" b="1" dirty="0"/>
              <a:t>Step 1: Data Collection</a:t>
            </a:r>
          </a:p>
          <a:p>
            <a:r>
              <a:rPr lang="en-US" dirty="0"/>
              <a:t>Gathered </a:t>
            </a:r>
            <a:r>
              <a:rPr lang="en-US" b="1" dirty="0"/>
              <a:t>two heart disease-related datasets</a:t>
            </a:r>
            <a:r>
              <a:rPr lang="en-US" dirty="0"/>
              <a:t> containing patient health records and lifestyle information.</a:t>
            </a:r>
          </a:p>
          <a:p>
            <a:r>
              <a:rPr lang="en-US" dirty="0"/>
              <a:t>Ensured datasets included key features such as </a:t>
            </a:r>
            <a:r>
              <a:rPr lang="en-US" b="1" dirty="0"/>
              <a:t>age, gender, BMI, smoking, alcohol, physical activity, diet, cholesterol, and heart disease outcome (target</a:t>
            </a:r>
            <a:r>
              <a:rPr lang="en-US" b="1" dirty="0" smtClean="0"/>
              <a:t>)</a:t>
            </a:r>
            <a:r>
              <a:rPr lang="en-US" dirty="0" smtClean="0"/>
              <a:t>.</a:t>
            </a:r>
          </a:p>
          <a:p>
            <a:pPr marL="0" indent="0">
              <a:buNone/>
            </a:pPr>
            <a:r>
              <a:rPr lang="en-US" b="1" dirty="0"/>
              <a:t>Step 2: Data Cleaning and Integration</a:t>
            </a:r>
          </a:p>
          <a:p>
            <a:r>
              <a:rPr lang="en-US" dirty="0"/>
              <a:t>Handled </a:t>
            </a:r>
            <a:r>
              <a:rPr lang="en-US" b="1" dirty="0"/>
              <a:t>missing values</a:t>
            </a:r>
            <a:r>
              <a:rPr lang="en-US" dirty="0"/>
              <a:t>: numeric columns filled with mean, categorical columns filled with mode.</a:t>
            </a:r>
          </a:p>
          <a:p>
            <a:r>
              <a:rPr lang="en-US" dirty="0"/>
              <a:t>Integrated datasets into a </a:t>
            </a:r>
            <a:r>
              <a:rPr lang="en-US" b="1" dirty="0"/>
              <a:t>single </a:t>
            </a:r>
            <a:r>
              <a:rPr lang="en-US" b="1" dirty="0" smtClean="0"/>
              <a:t> </a:t>
            </a:r>
            <a:r>
              <a:rPr lang="en-US" b="1" dirty="0"/>
              <a:t>dataset</a:t>
            </a:r>
            <a:r>
              <a:rPr lang="en-US" dirty="0"/>
              <a:t> for analysis.</a:t>
            </a:r>
          </a:p>
          <a:p>
            <a:r>
              <a:rPr lang="en-US" dirty="0"/>
              <a:t>Ensured consistent column names and formats across both datasets</a:t>
            </a:r>
            <a:r>
              <a:rPr lang="en-US" dirty="0" smtClean="0"/>
              <a:t>.</a:t>
            </a:r>
          </a:p>
          <a:p>
            <a:endParaRPr lang="en-US" dirty="0"/>
          </a:p>
          <a:p>
            <a:endParaRPr lang="en-US" dirty="0"/>
          </a:p>
        </p:txBody>
      </p:sp>
    </p:spTree>
    <p:extLst>
      <p:ext uri="{BB962C8B-B14F-4D97-AF65-F5344CB8AC3E}">
        <p14:creationId xmlns:p14="http://schemas.microsoft.com/office/powerpoint/2010/main" val="1820002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04816" y="702194"/>
            <a:ext cx="10363826" cy="3424107"/>
          </a:xfrm>
        </p:spPr>
        <p:txBody>
          <a:bodyPr/>
          <a:lstStyle/>
          <a:p>
            <a:pPr marL="0" indent="0">
              <a:buNone/>
            </a:pPr>
            <a:r>
              <a:rPr lang="en-IN" b="1" dirty="0"/>
              <a:t>Step 3: Data Transformation</a:t>
            </a:r>
          </a:p>
          <a:p>
            <a:r>
              <a:rPr lang="en-IN" b="1" dirty="0"/>
              <a:t>One-Hot Encoding:</a:t>
            </a:r>
            <a:r>
              <a:rPr lang="en-IN" dirty="0"/>
              <a:t> Converted categorical variables (e.g., smoking, diet type) into numeric dummy variables.</a:t>
            </a:r>
          </a:p>
          <a:p>
            <a:r>
              <a:rPr lang="en-IN" b="1" dirty="0"/>
              <a:t>Normalization:</a:t>
            </a:r>
            <a:r>
              <a:rPr lang="en-IN" dirty="0"/>
              <a:t> Applied </a:t>
            </a:r>
            <a:r>
              <a:rPr lang="en-IN" b="1" dirty="0"/>
              <a:t>Min-Max scaling</a:t>
            </a:r>
            <a:r>
              <a:rPr lang="en-IN" dirty="0"/>
              <a:t> to numeric features like age, BMI, cholesterol, etc</a:t>
            </a:r>
            <a:r>
              <a:rPr lang="en-IN" dirty="0" smtClean="0"/>
              <a:t>.</a:t>
            </a:r>
          </a:p>
          <a:p>
            <a:r>
              <a:rPr lang="en-IN" b="1" dirty="0" smtClean="0"/>
              <a:t>Feature engineering</a:t>
            </a:r>
            <a:r>
              <a:rPr lang="en-IN" dirty="0" smtClean="0"/>
              <a:t>: created new features such as </a:t>
            </a:r>
            <a:r>
              <a:rPr lang="en-IN" b="1" dirty="0" smtClean="0"/>
              <a:t>age group, </a:t>
            </a:r>
            <a:r>
              <a:rPr lang="en-IN" b="1" dirty="0" err="1" smtClean="0"/>
              <a:t>bmi</a:t>
            </a:r>
            <a:r>
              <a:rPr lang="en-IN" b="1" dirty="0" smtClean="0"/>
              <a:t> category, risk score</a:t>
            </a:r>
            <a:endParaRPr lang="en-IN" b="1" dirty="0"/>
          </a:p>
        </p:txBody>
      </p:sp>
    </p:spTree>
    <p:extLst>
      <p:ext uri="{BB962C8B-B14F-4D97-AF65-F5344CB8AC3E}">
        <p14:creationId xmlns:p14="http://schemas.microsoft.com/office/powerpoint/2010/main" val="33558711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bwMode="auto">
          <a:xfrm>
            <a:off x="3003051" y="313876"/>
            <a:ext cx="5468089" cy="39475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88189" y="4485736"/>
            <a:ext cx="11585275"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a:t>
            </a:r>
            <a:r>
              <a:rPr lang="en-US" dirty="0" smtClean="0"/>
              <a:t>he </a:t>
            </a:r>
            <a:r>
              <a:rPr lang="en-US" dirty="0"/>
              <a:t>median BMI for individuals with heart disease (red box) appears to be slightly higher than the median BMI for individuals without heart disease (blue box). This suggests that, on average, individuals with heart disease in this dataset tend to have a higher BMI</a:t>
            </a:r>
            <a:r>
              <a:rPr lang="en-US" dirty="0" smtClean="0"/>
              <a:t>.</a:t>
            </a:r>
          </a:p>
          <a:p>
            <a:pPr marL="285750" indent="-285750">
              <a:buFont typeface="Arial" panose="020B0604020202020204" pitchFamily="34" charset="0"/>
              <a:buChar char="•"/>
            </a:pPr>
            <a:r>
              <a:rPr lang="en-US" smtClean="0"/>
              <a:t>The  </a:t>
            </a:r>
            <a:r>
              <a:rPr lang="en-US" dirty="0"/>
              <a:t>plot visually suggests a positive association between BMI and the presence of heart disease in this </a:t>
            </a:r>
            <a:r>
              <a:rPr lang="en-US" dirty="0" smtClean="0"/>
              <a:t>dataset.</a:t>
            </a:r>
            <a:r>
              <a:rPr lang="en-US" dirty="0"/>
              <a:t> While the difference in median BMI might be slight, </a:t>
            </a:r>
            <a:r>
              <a:rPr lang="en-US" dirty="0" smtClean="0"/>
              <a:t>this </a:t>
            </a:r>
            <a:r>
              <a:rPr lang="en-US" dirty="0"/>
              <a:t>indicates that individuals with higher BMI are more likely to have heart disease.</a:t>
            </a:r>
            <a:endParaRPr lang="en-IN" dirty="0"/>
          </a:p>
        </p:txBody>
      </p:sp>
    </p:spTree>
    <p:extLst>
      <p:ext uri="{BB962C8B-B14F-4D97-AF65-F5344CB8AC3E}">
        <p14:creationId xmlns:p14="http://schemas.microsoft.com/office/powerpoint/2010/main" val="3794316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27781" y="167227"/>
            <a:ext cx="5548468" cy="3424237"/>
          </a:xfrm>
        </p:spPr>
      </p:pic>
      <p:sp>
        <p:nvSpPr>
          <p:cNvPr id="5" name="TextBox 4"/>
          <p:cNvSpPr txBox="1"/>
          <p:nvPr/>
        </p:nvSpPr>
        <p:spPr>
          <a:xfrm>
            <a:off x="577970" y="4183811"/>
            <a:ext cx="11499011"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This plot visualizes the relationship between an individual's smoking status and the presence of heart disease in our dataset</a:t>
            </a:r>
            <a:r>
              <a:rPr lang="en-US" dirty="0" smtClean="0"/>
              <a:t>.</a:t>
            </a:r>
          </a:p>
          <a:p>
            <a:pPr marL="285750" indent="-285750">
              <a:buFont typeface="Arial" panose="020B0604020202020204" pitchFamily="34" charset="0"/>
              <a:buChar char="•"/>
            </a:pPr>
            <a:r>
              <a:rPr lang="en-US" dirty="0"/>
              <a:t>By comparing the proportion of the </a:t>
            </a:r>
            <a:r>
              <a:rPr lang="en-US" dirty="0" smtClean="0"/>
              <a:t>bar </a:t>
            </a:r>
            <a:r>
              <a:rPr lang="en-US" dirty="0"/>
              <a:t>in the 'Smoker' group versus the 'Non-Smoker' group, we can see that a higher percentage of smokers in our dataset have heart disease compared to non-smokers.</a:t>
            </a:r>
          </a:p>
        </p:txBody>
      </p:sp>
    </p:spTree>
    <p:extLst>
      <p:ext uri="{BB962C8B-B14F-4D97-AF65-F5344CB8AC3E}">
        <p14:creationId xmlns:p14="http://schemas.microsoft.com/office/powerpoint/2010/main" val="3932438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621306" y="469900"/>
            <a:ext cx="4931925" cy="3424238"/>
          </a:xfrm>
        </p:spPr>
      </p:pic>
      <p:sp>
        <p:nvSpPr>
          <p:cNvPr id="5" name="TextBox 4"/>
          <p:cNvSpPr txBox="1"/>
          <p:nvPr/>
        </p:nvSpPr>
        <p:spPr>
          <a:xfrm>
            <a:off x="258792" y="4356340"/>
            <a:ext cx="11688793" cy="2208362"/>
          </a:xfrm>
          <a:prstGeom prst="rect">
            <a:avLst/>
          </a:prstGeom>
          <a:noFill/>
        </p:spPr>
        <p:txBody>
          <a:bodyPr wrap="square" rtlCol="0">
            <a:spAutoFit/>
          </a:bodyPr>
          <a:lstStyle/>
          <a:p>
            <a:endParaRPr lang="en-IN" dirty="0"/>
          </a:p>
        </p:txBody>
      </p:sp>
      <p:sp>
        <p:nvSpPr>
          <p:cNvPr id="6" name="TextBox 5"/>
          <p:cNvSpPr txBox="1"/>
          <p:nvPr/>
        </p:nvSpPr>
        <p:spPr>
          <a:xfrm>
            <a:off x="828136" y="4149306"/>
            <a:ext cx="9920377" cy="1754326"/>
          </a:xfrm>
          <a:prstGeom prst="rect">
            <a:avLst/>
          </a:prstGeom>
          <a:noFill/>
        </p:spPr>
        <p:txBody>
          <a:bodyPr wrap="square" rtlCol="0">
            <a:spAutoFit/>
          </a:bodyPr>
          <a:lstStyle/>
          <a:p>
            <a:pPr marL="285750" indent="-285750">
              <a:buFont typeface="Arial" panose="020B0604020202020204" pitchFamily="34" charset="0"/>
              <a:buChar char="•"/>
            </a:pPr>
            <a:r>
              <a:rPr lang="en-IN" dirty="0" smtClean="0"/>
              <a:t>In this plot it shows that </a:t>
            </a:r>
            <a:r>
              <a:rPr lang="en-US" dirty="0"/>
              <a:t>a lower percentage of physically active individuals have heart disease compared to those who are not physically active</a:t>
            </a:r>
            <a:r>
              <a:rPr lang="en-US" dirty="0" smtClean="0"/>
              <a:t>.</a:t>
            </a:r>
          </a:p>
          <a:p>
            <a:pPr marL="285750" indent="-285750">
              <a:buFont typeface="Arial" panose="020B0604020202020204" pitchFamily="34" charset="0"/>
              <a:buChar char="•"/>
            </a:pPr>
            <a:r>
              <a:rPr lang="en-US" dirty="0"/>
              <a:t>the conclusion from this plot is that </a:t>
            </a:r>
            <a:r>
              <a:rPr lang="en-US" b="1" dirty="0"/>
              <a:t>being physically active is associated with a lower prevalence of heart disease</a:t>
            </a:r>
            <a:r>
              <a:rPr lang="en-US" b="1" dirty="0" smtClean="0"/>
              <a:t>.</a:t>
            </a:r>
          </a:p>
          <a:p>
            <a:pPr marL="285750" indent="-285750">
              <a:buFont typeface="Arial" panose="020B0604020202020204" pitchFamily="34" charset="0"/>
              <a:buChar char="•"/>
            </a:pPr>
            <a:r>
              <a:rPr lang="en-US" dirty="0"/>
              <a:t>This supports a </a:t>
            </a:r>
            <a:r>
              <a:rPr lang="en-US" b="1" dirty="0"/>
              <a:t>negative relationship</a:t>
            </a:r>
            <a:r>
              <a:rPr lang="en-US" dirty="0"/>
              <a:t> between physical activity and heart disease risk </a:t>
            </a:r>
            <a:r>
              <a:rPr lang="en-US" dirty="0" smtClean="0"/>
              <a:t> </a:t>
            </a:r>
            <a:r>
              <a:rPr lang="en-US" dirty="0"/>
              <a:t>more activity </a:t>
            </a:r>
            <a:r>
              <a:rPr lang="en-US" dirty="0" smtClean="0"/>
              <a:t>is </a:t>
            </a:r>
            <a:r>
              <a:rPr lang="en-US" dirty="0"/>
              <a:t>lower risk.</a:t>
            </a:r>
            <a:endParaRPr lang="en-IN" dirty="0"/>
          </a:p>
        </p:txBody>
      </p:sp>
    </p:spTree>
    <p:extLst>
      <p:ext uri="{BB962C8B-B14F-4D97-AF65-F5344CB8AC3E}">
        <p14:creationId xmlns:p14="http://schemas.microsoft.com/office/powerpoint/2010/main" val="5236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174521" y="198408"/>
            <a:ext cx="5417388" cy="4183811"/>
          </a:xfrm>
        </p:spPr>
      </p:pic>
      <p:sp>
        <p:nvSpPr>
          <p:cNvPr id="2" name="TextBox 1"/>
          <p:cNvSpPr txBox="1"/>
          <p:nvPr/>
        </p:nvSpPr>
        <p:spPr>
          <a:xfrm>
            <a:off x="646981" y="4977442"/>
            <a:ext cx="10921042" cy="1200329"/>
          </a:xfrm>
          <a:prstGeom prst="rect">
            <a:avLst/>
          </a:prstGeom>
          <a:noFill/>
        </p:spPr>
        <p:txBody>
          <a:bodyPr wrap="square" rtlCol="0">
            <a:spAutoFit/>
          </a:bodyPr>
          <a:lstStyle/>
          <a:p>
            <a:r>
              <a:rPr lang="en-US" dirty="0" smtClean="0"/>
              <a:t>This is the </a:t>
            </a:r>
            <a:r>
              <a:rPr lang="en-US" dirty="0"/>
              <a:t>correlation among lifestyle factors and their association with heart disease. The correlation coefficients are quite small, indicating that no single factor alone has a strong linear relationship with heart disease. However, smoking shows the highest positive correlation, while physical activity shows a weak negative correlation, suggesting potential protective effects. </a:t>
            </a:r>
            <a:endParaRPr lang="en-IN" dirty="0"/>
          </a:p>
        </p:txBody>
      </p:sp>
    </p:spTree>
    <p:extLst>
      <p:ext uri="{BB962C8B-B14F-4D97-AF65-F5344CB8AC3E}">
        <p14:creationId xmlns:p14="http://schemas.microsoft.com/office/powerpoint/2010/main" val="285682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61303" y="459335"/>
            <a:ext cx="4691932" cy="3424237"/>
          </a:xfrm>
        </p:spPr>
      </p:pic>
      <p:sp>
        <p:nvSpPr>
          <p:cNvPr id="10" name="Rectangle 3"/>
          <p:cNvSpPr>
            <a:spLocks noChangeArrowheads="1"/>
          </p:cNvSpPr>
          <p:nvPr/>
        </p:nvSpPr>
        <p:spPr bwMode="auto">
          <a:xfrm>
            <a:off x="299545" y="469812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People with </a:t>
            </a:r>
            <a:r>
              <a:rPr kumimoji="0" lang="en-US" sz="1800" b="1" i="0" u="none" strike="noStrike" cap="none" normalizeH="0" baseline="0" dirty="0" smtClean="0">
                <a:ln>
                  <a:noFill/>
                </a:ln>
                <a:solidFill>
                  <a:schemeClr val="tx1"/>
                </a:solidFill>
                <a:effectLst/>
                <a:latin typeface="Arial" panose="020B0604020202020204" pitchFamily="34" charset="0"/>
              </a:rPr>
              <a:t>HighBP</a:t>
            </a:r>
            <a:r>
              <a:rPr kumimoji="0" lang="en-US" sz="1800" b="0" i="0" u="none" strike="noStrike" cap="none" normalizeH="0" baseline="0" dirty="0" smtClean="0">
                <a:ln>
                  <a:noFill/>
                </a:ln>
                <a:solidFill>
                  <a:schemeClr val="tx1"/>
                </a:solidFill>
                <a:effectLst/>
                <a:latin typeface="Arial" panose="020B0604020202020204" pitchFamily="34" charset="0"/>
              </a:rPr>
              <a:t> are more likely to have </a:t>
            </a:r>
            <a:r>
              <a:rPr kumimoji="0" lang="en-US" sz="1800" b="1" i="0" u="none" strike="noStrike" cap="none" normalizeH="0" baseline="0" dirty="0" smtClean="0">
                <a:ln>
                  <a:noFill/>
                </a:ln>
                <a:solidFill>
                  <a:schemeClr val="tx1"/>
                </a:solidFill>
                <a:effectLst/>
                <a:latin typeface="Arial" panose="020B0604020202020204" pitchFamily="34" charset="0"/>
              </a:rPr>
              <a:t>Heart Disease</a:t>
            </a:r>
            <a:r>
              <a:rPr kumimoji="0" lang="en-US" sz="1800" b="0" i="0" u="none" strike="noStrike" cap="none" normalizeH="0" baseline="0" dirty="0" smtClean="0">
                <a:ln>
                  <a:noFill/>
                </a:ln>
                <a:solidFill>
                  <a:schemeClr val="tx1"/>
                </a:solidFill>
                <a:effectLst/>
                <a:latin typeface="Arial" panose="020B0604020202020204" pitchFamily="34" charset="0"/>
              </a:rPr>
              <a:t> than those without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The visual difference between the bars shows that </a:t>
            </a:r>
            <a:r>
              <a:rPr kumimoji="0" lang="en-US" sz="1800" b="1" i="0" u="none" strike="noStrike" cap="none" normalizeH="0" baseline="0" dirty="0" smtClean="0">
                <a:ln>
                  <a:noFill/>
                </a:ln>
                <a:solidFill>
                  <a:schemeClr val="tx1"/>
                </a:solidFill>
                <a:effectLst/>
                <a:latin typeface="Arial" panose="020B0604020202020204" pitchFamily="34" charset="0"/>
              </a:rPr>
              <a:t>High Blood Pressure is a strong risk factor</a:t>
            </a:r>
            <a:r>
              <a:rPr kumimoji="0" lang="en-US" sz="1800" b="0" i="0" u="none" strike="noStrike" cap="none" normalizeH="0" baseline="0" dirty="0" smtClean="0">
                <a:ln>
                  <a:noFill/>
                </a:ln>
                <a:solidFill>
                  <a:schemeClr val="tx1"/>
                </a:solidFill>
                <a:effectLst/>
                <a:latin typeface="Arial" panose="020B0604020202020204" pitchFamily="34" charset="0"/>
              </a:rPr>
              <a:t> for heart disease.</a:t>
            </a:r>
          </a:p>
        </p:txBody>
      </p:sp>
    </p:spTree>
    <p:extLst>
      <p:ext uri="{BB962C8B-B14F-4D97-AF65-F5344CB8AC3E}">
        <p14:creationId xmlns:p14="http://schemas.microsoft.com/office/powerpoint/2010/main" val="3273703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189316" y="115469"/>
            <a:ext cx="4691932" cy="3424237"/>
          </a:xfrm>
        </p:spPr>
      </p:pic>
      <p:sp>
        <p:nvSpPr>
          <p:cNvPr id="6" name="TextBox 5"/>
          <p:cNvSpPr txBox="1"/>
          <p:nvPr/>
        </p:nvSpPr>
        <p:spPr>
          <a:xfrm>
            <a:off x="526211" y="4123426"/>
            <a:ext cx="114300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For </a:t>
            </a:r>
            <a:r>
              <a:rPr lang="en-US" b="1" dirty="0"/>
              <a:t>No HighChol</a:t>
            </a:r>
            <a:r>
              <a:rPr lang="en-US" dirty="0"/>
              <a:t>: Most people do not have heart disease (tall dark blue bar), and only a small number have heart disease (short green bar).</a:t>
            </a:r>
          </a:p>
          <a:p>
            <a:pPr marL="285750" indent="-285750">
              <a:buFont typeface="Arial" panose="020B0604020202020204" pitchFamily="34" charset="0"/>
              <a:buChar char="•"/>
            </a:pPr>
            <a:r>
              <a:rPr lang="en-US" dirty="0"/>
              <a:t>For </a:t>
            </a:r>
            <a:r>
              <a:rPr lang="en-US" b="1" dirty="0"/>
              <a:t>HighChol</a:t>
            </a:r>
            <a:r>
              <a:rPr lang="en-US" dirty="0"/>
              <a:t>: There are still many without heart disease, but the number of people with heart disease (green bar) increases noticeably compared to the “No HighChol” group.</a:t>
            </a:r>
          </a:p>
          <a:p>
            <a:pPr marL="285750" indent="-285750">
              <a:buFont typeface="Arial" panose="020B0604020202020204" pitchFamily="34" charset="0"/>
              <a:buChar char="•"/>
            </a:pPr>
            <a:r>
              <a:rPr lang="en-US" dirty="0"/>
              <a:t>Individuals with </a:t>
            </a:r>
            <a:r>
              <a:rPr lang="en-US" b="1" dirty="0"/>
              <a:t>High Cholesterol</a:t>
            </a:r>
            <a:r>
              <a:rPr lang="en-US" dirty="0"/>
              <a:t> are more likely to have </a:t>
            </a:r>
            <a:r>
              <a:rPr lang="en-US" b="1" dirty="0"/>
              <a:t>Heart Disease</a:t>
            </a:r>
            <a:r>
              <a:rPr lang="en-US" dirty="0"/>
              <a:t> than those with normal cholesterol.</a:t>
            </a:r>
          </a:p>
          <a:p>
            <a:pPr marL="285750" indent="-285750">
              <a:buFont typeface="Arial" panose="020B0604020202020204" pitchFamily="34" charset="0"/>
              <a:buChar char="•"/>
            </a:pPr>
            <a:r>
              <a:rPr lang="en-US" dirty="0"/>
              <a:t>This suggests that </a:t>
            </a:r>
            <a:r>
              <a:rPr lang="en-US" b="1" dirty="0"/>
              <a:t>high cholesterol is a significant contributing factor</a:t>
            </a:r>
            <a:r>
              <a:rPr lang="en-US" dirty="0"/>
              <a:t> to heart disease risk.</a:t>
            </a:r>
          </a:p>
          <a:p>
            <a:endParaRPr lang="en-IN" dirty="0"/>
          </a:p>
        </p:txBody>
      </p:sp>
    </p:spTree>
    <p:extLst>
      <p:ext uri="{BB962C8B-B14F-4D97-AF65-F5344CB8AC3E}">
        <p14:creationId xmlns:p14="http://schemas.microsoft.com/office/powerpoint/2010/main" val="3039738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151" y="1"/>
            <a:ext cx="9567944" cy="1207698"/>
          </a:xfrm>
        </p:spPr>
        <p:txBody>
          <a:bodyPr/>
          <a:lstStyle/>
          <a:p>
            <a:r>
              <a:rPr lang="en-US" u="sng" dirty="0" smtClean="0">
                <a:latin typeface="Algerian" panose="04020705040A02060702" pitchFamily="82" charset="0"/>
              </a:rPr>
              <a:t>result</a:t>
            </a:r>
            <a:endParaRPr lang="en-IN" u="sng" dirty="0">
              <a:latin typeface="Algerian" panose="04020705040A02060702" pitchFamily="82" charset="0"/>
            </a:endParaRPr>
          </a:p>
        </p:txBody>
      </p:sp>
      <p:sp>
        <p:nvSpPr>
          <p:cNvPr id="3" name="Content Placeholder 2"/>
          <p:cNvSpPr>
            <a:spLocks noGrp="1"/>
          </p:cNvSpPr>
          <p:nvPr>
            <p:ph sz="quarter" idx="13"/>
          </p:nvPr>
        </p:nvSpPr>
        <p:spPr>
          <a:xfrm>
            <a:off x="913151" y="1142140"/>
            <a:ext cx="10363826" cy="3424107"/>
          </a:xfrm>
        </p:spPr>
        <p:txBody>
          <a:bodyPr>
            <a:noAutofit/>
          </a:bodyPr>
          <a:lstStyle/>
          <a:p>
            <a:r>
              <a:rPr lang="en-US" sz="1400" dirty="0">
                <a:latin typeface="Bell MT" panose="02020503060305020303" pitchFamily="18" charset="0"/>
              </a:rPr>
              <a:t>The analysis of the integrated </a:t>
            </a:r>
            <a:r>
              <a:rPr lang="en-US" sz="1400" b="1" dirty="0">
                <a:latin typeface="Bell MT" panose="02020503060305020303" pitchFamily="18" charset="0"/>
              </a:rPr>
              <a:t>Heart Disease and Lifestyle dataset</a:t>
            </a:r>
            <a:r>
              <a:rPr lang="en-US" sz="1400" dirty="0">
                <a:latin typeface="Bell MT" panose="02020503060305020303" pitchFamily="18" charset="0"/>
              </a:rPr>
              <a:t> reveals a strong correlation between certain lifestyle-related factors and the likelihood of developing heart disease.</a:t>
            </a:r>
          </a:p>
          <a:p>
            <a:r>
              <a:rPr lang="en-US" sz="1400" dirty="0">
                <a:latin typeface="Bell MT" panose="02020503060305020303" pitchFamily="18" charset="0"/>
              </a:rPr>
              <a:t>From the data visualization and feature analysis, it was observed that:</a:t>
            </a:r>
          </a:p>
          <a:p>
            <a:r>
              <a:rPr lang="en-US" sz="1400" b="1" dirty="0">
                <a:latin typeface="Bell MT" panose="02020503060305020303" pitchFamily="18" charset="0"/>
              </a:rPr>
              <a:t>High Blood Pressure (HighBP)</a:t>
            </a:r>
            <a:r>
              <a:rPr lang="en-US" sz="1400" dirty="0">
                <a:latin typeface="Bell MT" panose="02020503060305020303" pitchFamily="18" charset="0"/>
              </a:rPr>
              <a:t> and </a:t>
            </a:r>
            <a:r>
              <a:rPr lang="en-US" sz="1400" b="1" dirty="0">
                <a:latin typeface="Bell MT" panose="02020503060305020303" pitchFamily="18" charset="0"/>
              </a:rPr>
              <a:t>High Cholesterol (HighChol)</a:t>
            </a:r>
            <a:r>
              <a:rPr lang="en-US" sz="1400" dirty="0">
                <a:latin typeface="Bell MT" panose="02020503060305020303" pitchFamily="18" charset="0"/>
              </a:rPr>
              <a:t> are significantly associated with a higher incidence of heart disease.</a:t>
            </a:r>
          </a:p>
          <a:p>
            <a:pPr lvl="1"/>
            <a:r>
              <a:rPr lang="en-US" sz="1400" dirty="0">
                <a:latin typeface="Bell MT" panose="02020503060305020303" pitchFamily="18" charset="0"/>
              </a:rPr>
              <a:t>People with </a:t>
            </a:r>
            <a:r>
              <a:rPr lang="en-US" sz="1400" b="1" dirty="0">
                <a:latin typeface="Bell MT" panose="02020503060305020303" pitchFamily="18" charset="0"/>
              </a:rPr>
              <a:t>HighBP</a:t>
            </a:r>
            <a:r>
              <a:rPr lang="en-US" sz="1400" dirty="0">
                <a:latin typeface="Bell MT" panose="02020503060305020303" pitchFamily="18" charset="0"/>
              </a:rPr>
              <a:t> are much more likely to have heart disease compared to those with normal blood pressure.</a:t>
            </a:r>
          </a:p>
          <a:p>
            <a:pPr lvl="1"/>
            <a:r>
              <a:rPr lang="en-US" sz="1400" dirty="0">
                <a:latin typeface="Bell MT" panose="02020503060305020303" pitchFamily="18" charset="0"/>
              </a:rPr>
              <a:t>Similarly, individuals with </a:t>
            </a:r>
            <a:r>
              <a:rPr lang="en-US" sz="1400" b="1" dirty="0">
                <a:latin typeface="Bell MT" panose="02020503060305020303" pitchFamily="18" charset="0"/>
              </a:rPr>
              <a:t>HighChol</a:t>
            </a:r>
            <a:r>
              <a:rPr lang="en-US" sz="1400" dirty="0">
                <a:latin typeface="Bell MT" panose="02020503060305020303" pitchFamily="18" charset="0"/>
              </a:rPr>
              <a:t> show a noticeably higher occurrence of heart disease.</a:t>
            </a:r>
          </a:p>
          <a:p>
            <a:r>
              <a:rPr lang="en-US" sz="1400" dirty="0">
                <a:latin typeface="Bell MT" panose="02020503060305020303" pitchFamily="18" charset="0"/>
              </a:rPr>
              <a:t>Other contributing lifestyle factors such as </a:t>
            </a:r>
            <a:r>
              <a:rPr lang="en-US" sz="1400" b="1" dirty="0">
                <a:latin typeface="Bell MT" panose="02020503060305020303" pitchFamily="18" charset="0"/>
              </a:rPr>
              <a:t>smoking habits</a:t>
            </a:r>
            <a:r>
              <a:rPr lang="en-US" sz="1400" dirty="0">
                <a:latin typeface="Bell MT" panose="02020503060305020303" pitchFamily="18" charset="0"/>
              </a:rPr>
              <a:t>, </a:t>
            </a:r>
            <a:r>
              <a:rPr lang="en-US" sz="1400" b="1" dirty="0">
                <a:latin typeface="Bell MT" panose="02020503060305020303" pitchFamily="18" charset="0"/>
              </a:rPr>
              <a:t>lack of physical activity</a:t>
            </a:r>
            <a:r>
              <a:rPr lang="en-US" sz="1400" dirty="0">
                <a:latin typeface="Bell MT" panose="02020503060305020303" pitchFamily="18" charset="0"/>
              </a:rPr>
              <a:t>, </a:t>
            </a:r>
            <a:r>
              <a:rPr lang="en-US" sz="1400" b="1" dirty="0">
                <a:latin typeface="Bell MT" panose="02020503060305020303" pitchFamily="18" charset="0"/>
              </a:rPr>
              <a:t>obesity</a:t>
            </a:r>
            <a:r>
              <a:rPr lang="en-US" sz="1400" dirty="0">
                <a:latin typeface="Bell MT" panose="02020503060305020303" pitchFamily="18" charset="0"/>
              </a:rPr>
              <a:t>, and </a:t>
            </a:r>
            <a:r>
              <a:rPr lang="en-US" sz="1400" b="1" dirty="0">
                <a:latin typeface="Bell MT" panose="02020503060305020303" pitchFamily="18" charset="0"/>
              </a:rPr>
              <a:t>unhealthy diet</a:t>
            </a:r>
            <a:r>
              <a:rPr lang="en-US" sz="1400" dirty="0">
                <a:latin typeface="Bell MT" panose="02020503060305020303" pitchFamily="18" charset="0"/>
              </a:rPr>
              <a:t> also play a crucial role in increasing heart disease risk.</a:t>
            </a:r>
          </a:p>
          <a:p>
            <a:r>
              <a:rPr lang="en-US" sz="1400" dirty="0">
                <a:latin typeface="Bell MT" panose="02020503060305020303" pitchFamily="18" charset="0"/>
              </a:rPr>
              <a:t>The project’s </a:t>
            </a:r>
            <a:r>
              <a:rPr lang="en-US" sz="1400" b="1" dirty="0">
                <a:latin typeface="Bell MT" panose="02020503060305020303" pitchFamily="18" charset="0"/>
              </a:rPr>
              <a:t>data transformation, feature engineering, and one-hot encoding</a:t>
            </a:r>
            <a:r>
              <a:rPr lang="en-US" sz="1400" dirty="0">
                <a:latin typeface="Bell MT" panose="02020503060305020303" pitchFamily="18" charset="0"/>
              </a:rPr>
              <a:t> helped refine the dataset for accurate analysis and visualization.</a:t>
            </a:r>
          </a:p>
          <a:p>
            <a:r>
              <a:rPr lang="en-US" sz="1400" dirty="0">
                <a:latin typeface="Bell MT" panose="02020503060305020303" pitchFamily="18" charset="0"/>
              </a:rPr>
              <a:t>The data visualizations clearly highlight that </a:t>
            </a:r>
            <a:r>
              <a:rPr lang="en-US" sz="1400" b="1" dirty="0">
                <a:latin typeface="Bell MT" panose="02020503060305020303" pitchFamily="18" charset="0"/>
              </a:rPr>
              <a:t>lifestyle choices have a direct impact on heart health</a:t>
            </a:r>
            <a:r>
              <a:rPr lang="en-US" sz="1400" dirty="0">
                <a:latin typeface="Bell MT" panose="02020503060305020303" pitchFamily="18" charset="0"/>
              </a:rPr>
              <a:t>. Individuals maintaining healthy habits (normal blood pressure, normal cholesterol, non-smokers, regular physical activity) have a lower chance of developing heart disease.</a:t>
            </a:r>
          </a:p>
        </p:txBody>
      </p:sp>
    </p:spTree>
    <p:extLst>
      <p:ext uri="{BB962C8B-B14F-4D97-AF65-F5344CB8AC3E}">
        <p14:creationId xmlns:p14="http://schemas.microsoft.com/office/powerpoint/2010/main" val="3406342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Algerian" panose="04020705040A02060702" pitchFamily="82" charset="0"/>
              </a:rPr>
              <a:t>conclusion</a:t>
            </a:r>
            <a:endParaRPr lang="en-IN" u="sng" dirty="0">
              <a:latin typeface="Algerian" panose="04020705040A02060702" pitchFamily="82" charset="0"/>
            </a:endParaRPr>
          </a:p>
        </p:txBody>
      </p:sp>
      <p:sp>
        <p:nvSpPr>
          <p:cNvPr id="3" name="Content Placeholder 2"/>
          <p:cNvSpPr>
            <a:spLocks noGrp="1"/>
          </p:cNvSpPr>
          <p:nvPr>
            <p:ph sz="quarter" idx="13"/>
          </p:nvPr>
        </p:nvSpPr>
        <p:spPr/>
        <p:txBody>
          <a:bodyPr/>
          <a:lstStyle/>
          <a:p>
            <a:r>
              <a:rPr lang="en-US" dirty="0">
                <a:latin typeface="Bell MT" panose="02020503060305020303" pitchFamily="18" charset="0"/>
              </a:rPr>
              <a:t>Heart disease is largely influenced by lifestyle factors. Preventive measures such as maintaining normal blood pressure and cholesterol levels, following a balanced diet, exercising regularly, and avoiding smoking can significantly reduce the risk of heart disease</a:t>
            </a:r>
            <a:r>
              <a:rPr lang="en-US" dirty="0"/>
              <a:t>.</a:t>
            </a:r>
            <a:endParaRPr lang="en-IN" dirty="0">
              <a:latin typeface="Bell MT" panose="02020503060305020303" pitchFamily="18" charset="0"/>
            </a:endParaRPr>
          </a:p>
        </p:txBody>
      </p:sp>
    </p:spTree>
    <p:extLst>
      <p:ext uri="{BB962C8B-B14F-4D97-AF65-F5344CB8AC3E}">
        <p14:creationId xmlns:p14="http://schemas.microsoft.com/office/powerpoint/2010/main" val="787756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0551" y="2846718"/>
            <a:ext cx="10567359" cy="830997"/>
          </a:xfrm>
          <a:prstGeom prst="rect">
            <a:avLst/>
          </a:prstGeom>
          <a:noFill/>
        </p:spPr>
        <p:txBody>
          <a:bodyPr wrap="square" rtlCol="0">
            <a:spAutoFit/>
          </a:bodyPr>
          <a:lstStyle/>
          <a:p>
            <a:pPr algn="ctr"/>
            <a:r>
              <a:rPr lang="en-US" sz="4800" b="1" dirty="0" smtClean="0">
                <a:latin typeface="Algerian" panose="04020705040A02060702" pitchFamily="82" charset="0"/>
              </a:rPr>
              <a:t>THANK YOU</a:t>
            </a:r>
            <a:endParaRPr lang="en-IN" sz="4800" b="1" dirty="0">
              <a:latin typeface="Algerian" panose="04020705040A02060702" pitchFamily="82" charset="0"/>
            </a:endParaRPr>
          </a:p>
        </p:txBody>
      </p:sp>
    </p:spTree>
    <p:extLst>
      <p:ext uri="{BB962C8B-B14F-4D97-AF65-F5344CB8AC3E}">
        <p14:creationId xmlns:p14="http://schemas.microsoft.com/office/powerpoint/2010/main" val="407979192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277</TotalTime>
  <Words>1002</Words>
  <Application>Microsoft Office PowerPoint</Application>
  <PresentationFormat>Widescreen</PresentationFormat>
  <Paragraphs>54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Algerian</vt:lpstr>
      <vt:lpstr>Arial</vt:lpstr>
      <vt:lpstr>Bell MT</vt:lpstr>
      <vt:lpstr>Tw Cen MT</vt:lpstr>
      <vt:lpstr>Wingdings</vt:lpstr>
      <vt:lpstr>Droplet</vt:lpstr>
      <vt:lpstr>the Impact of Lifestyle on Heart Disease Risk</vt:lpstr>
      <vt:lpstr>introduction</vt:lpstr>
      <vt:lpstr>abstract</vt:lpstr>
      <vt:lpstr>Problem statement</vt:lpstr>
      <vt:lpstr>PowerPoint Presentation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Lifestyle on Heart Disease Risk</dc:title>
  <dc:creator>hanima kv</dc:creator>
  <cp:lastModifiedBy>hanima kv</cp:lastModifiedBy>
  <cp:revision>16</cp:revision>
  <dcterms:created xsi:type="dcterms:W3CDTF">2025-10-07T14:34:43Z</dcterms:created>
  <dcterms:modified xsi:type="dcterms:W3CDTF">2025-10-08T09:56:38Z</dcterms:modified>
</cp:coreProperties>
</file>